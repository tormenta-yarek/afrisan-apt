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kUG41ViN4n4Y7WQAg/dZoPbAW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Apertura: presentar el proyecto y el objetivo de la exposición. Indicar que la Fase 1 corresponde a definición, análisis y planificación.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el ciclo de bodega a reportería. Conectar el problema con el campo laboral de Ingeniería en Informática.</a:t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qué módulos considera la solución y quiénes la usarán.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objetivo general y los específicos. Recalcar alcance de Fase 1 para no confundirlo con desarrollo terminado.</a:t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por qué esta metodología permite controlar el alcance y alcanzar objetivos. Nombrar artefactos.</a:t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que la factibilidad no es solo técnica: también operativa, temporal y de recursos.</a:t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Yarek explica esta slide. Nombrar los tres diagramas sin entrar en demasiado detalle.</a:t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no se busca mostrar código, sino diseño de interfaces y criterios de calidad.</a:t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slide responde a los criterios 7 y 12 de la rúbrica: plan, recursos, duración, facilitadores y obstáculos.</a:t>
            </a:r>
            <a:endParaRPr/>
          </a:p>
        </p:txBody>
      </p:sp>
      <p:sp>
        <p:nvSpPr>
          <p:cNvPr id="300" name="Google Shape;3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Mencionar que se debe tener el repositorio actualizado y con nombres de archivo según pauta.</a:t>
            </a:r>
            <a:endParaRPr/>
          </a:p>
        </p:txBody>
      </p:sp>
      <p:sp>
        <p:nvSpPr>
          <p:cNvPr id="379" name="Google Shape;3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Aclarar que estos mockups son low-fidelity, como corresponde a Fase 1.</a:t>
            </a:r>
            <a:endParaRPr/>
          </a:p>
        </p:txBody>
      </p:sp>
      <p:sp>
        <p:nvSpPr>
          <p:cNvPr id="412" name="Google Shape;4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Conectar con el adicional de la pauta: backlog, diagramas y mockup.</a:t>
            </a:r>
            <a:endParaRPr/>
          </a:p>
        </p:txBody>
      </p:sp>
      <p:sp>
        <p:nvSpPr>
          <p:cNvPr id="443" name="Google Shape;4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con mensaje de viabilidad y preparar preguntas. Cada integrante debe responder por su parte y también demostrar comprensión general.</a:t>
            </a:r>
            <a:endParaRPr/>
          </a:p>
        </p:txBody>
      </p:sp>
      <p:sp>
        <p:nvSpPr>
          <p:cNvPr id="557" name="Google Shape;55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tipo_afrisan_con_copo_de_nieve_y_brújula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211" y="502920"/>
            <a:ext cx="2873978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658368" y="1847088"/>
            <a:ext cx="7406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Sistema Integral de Gestión de Inventario, Prevención de Pérdidas y Auditoría de Gases Refrigerantes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297180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Proyecto AFRISAN · Evaluación Sumativa Fase 1: Definición del Proyecto APT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4754880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Carolina Ávila · Dante Moya · Yarek Larraguibel L.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Docente guía: Carlos Quintanilla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321040" y="1207008"/>
            <a:ext cx="2971800" cy="4251960"/>
          </a:xfrm>
          <a:prstGeom prst="roundRect">
            <a:avLst>
              <a:gd fmla="val 6154" name="adj"/>
            </a:avLst>
          </a:prstGeom>
          <a:solidFill>
            <a:srgbClr val="EAF3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641093" y="2331725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8C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A8C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869693" y="3154685"/>
            <a:ext cx="1920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Evidencias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Sprint 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1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Descripción del proyecto y relevancia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Digitalizar el ciclo de vida de los gases refrigerantes para mejorar control, trazabilidad y auditoría.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37" name="Google Shape;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38;p3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3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Carolina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3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40080" y="1325880"/>
            <a:ext cx="3474720" cy="1097280"/>
          </a:xfrm>
          <a:prstGeom prst="roundRect">
            <a:avLst>
              <a:gd fmla="val 10000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795528" y="1444752"/>
            <a:ext cx="3163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¿Qué es AFRISAN?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95528" y="1755648"/>
            <a:ext cx="3163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111827"/>
                </a:solidFill>
              </a:rPr>
              <a:t>Empresa de servicios de mantenimiento de equipos de refrigeración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343400" y="1325880"/>
            <a:ext cx="347472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498848" y="1444752"/>
            <a:ext cx="3163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498848" y="1755648"/>
            <a:ext cx="3163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111827"/>
                </a:solidFill>
              </a:rPr>
              <a:t>Registros manuales, exceso de carga de refrigerantes, trazablidad, robos, pérdidas y altos costos.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046720" y="1325880"/>
            <a:ext cx="3474720" cy="1097280"/>
          </a:xfrm>
          <a:prstGeom prst="roundRect">
            <a:avLst>
              <a:gd fmla="val 10000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202168" y="1444752"/>
            <a:ext cx="3163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Relevancia laboral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202168" y="1755648"/>
            <a:ext cx="31638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Exige levantar requerimientos reales, diseñar arquitectura, modelar datos, integrar servicios, asegurar calidad y apoyar decisiones.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003A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069848" y="3364992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94360" y="393192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Bodega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1426464" y="3493008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5E2F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" name="Google Shape;54;p3"/>
          <p:cNvSpPr/>
          <p:nvPr/>
        </p:nvSpPr>
        <p:spPr>
          <a:xfrm>
            <a:off x="2651760" y="3246120"/>
            <a:ext cx="502920" cy="502920"/>
          </a:xfrm>
          <a:prstGeom prst="ellipse">
            <a:avLst/>
          </a:prstGeom>
          <a:solidFill>
            <a:srgbClr val="003A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807208" y="3364992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331720" y="393192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Despacho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3163824" y="3493008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5E2F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p3"/>
          <p:cNvSpPr/>
          <p:nvPr/>
        </p:nvSpPr>
        <p:spPr>
          <a:xfrm>
            <a:off x="4389120" y="3246120"/>
            <a:ext cx="502920" cy="502920"/>
          </a:xfrm>
          <a:prstGeom prst="ellipse">
            <a:avLst/>
          </a:prstGeom>
          <a:solidFill>
            <a:srgbClr val="003A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44568" y="3364992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069080" y="393192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Terreno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4901184" y="3493008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5E2F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" name="Google Shape;62;p3"/>
          <p:cNvSpPr/>
          <p:nvPr/>
        </p:nvSpPr>
        <p:spPr>
          <a:xfrm>
            <a:off x="6126480" y="3246120"/>
            <a:ext cx="502920" cy="502920"/>
          </a:xfrm>
          <a:prstGeom prst="ellipse">
            <a:avLst/>
          </a:prstGeom>
          <a:solidFill>
            <a:srgbClr val="FFB8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281928" y="3364992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806440" y="393192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Retorno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3"/>
          <p:cNvCxnSpPr/>
          <p:nvPr/>
        </p:nvCxnSpPr>
        <p:spPr>
          <a:xfrm>
            <a:off x="6638544" y="3493008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5E2F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p3"/>
          <p:cNvSpPr/>
          <p:nvPr/>
        </p:nvSpPr>
        <p:spPr>
          <a:xfrm>
            <a:off x="7863840" y="3246120"/>
            <a:ext cx="502920" cy="502920"/>
          </a:xfrm>
          <a:prstGeom prst="ellipse">
            <a:avLst/>
          </a:prstGeom>
          <a:solidFill>
            <a:srgbClr val="FFB8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019288" y="3364992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543800" y="393192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Conciliación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8375904" y="3493008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5E2F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3"/>
          <p:cNvSpPr/>
          <p:nvPr/>
        </p:nvSpPr>
        <p:spPr>
          <a:xfrm>
            <a:off x="9601200" y="3246120"/>
            <a:ext cx="502920" cy="502920"/>
          </a:xfrm>
          <a:prstGeom prst="ellipse">
            <a:avLst/>
          </a:prstGeom>
          <a:solidFill>
            <a:srgbClr val="FFB8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9756648" y="3364992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281160" y="393192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070"/>
              <a:buFont typeface="Arial"/>
              <a:buNone/>
            </a:pPr>
            <a:r>
              <a:rPr b="1" i="0" lang="en-US" sz="107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Reporte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828800" y="4983480"/>
            <a:ext cx="85953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00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984248" y="5102352"/>
            <a:ext cx="82844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Valor esperado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984248" y="5413248"/>
            <a:ext cx="82844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-US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Pasar de registros aislados a información confiable para control operacional, costos, cumplimiento y decisiones gerenciales.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Solución propuesta y usuarios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Aplicación móvil, web administrativa, API, base de datos, offline y reportería ejecutiva.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4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4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Yarek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4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58368" y="1298448"/>
            <a:ext cx="5029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Código QR para identificar cilindros y asociarlos a órdenes de trabajo.</a:t>
            </a:r>
            <a:endParaRPr b="0" i="0" sz="142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Registro de pesajes, intervenciones, consumo, retorno y conciliación.</a:t>
            </a:r>
            <a:endParaRPr sz="142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Persistencia offline en terreno y sincronización diferida.</a:t>
            </a:r>
            <a:endParaRPr sz="142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Control por roles, trazabilidad de correcciones y auditoría.</a:t>
            </a:r>
            <a:endParaRPr sz="142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Dashboards de costos, consumo, alertas y emisiones CO2e.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126480" y="1261872"/>
            <a:ext cx="2331720" cy="713232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281928" y="1380744"/>
            <a:ext cx="2020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160"/>
              <a:buFont typeface="Arial"/>
              <a:buNone/>
            </a:pPr>
            <a:r>
              <a:rPr b="1" lang="en-US" sz="11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281928" y="1691640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Intervenciones, evidencias y modo offline.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823960" y="1261872"/>
            <a:ext cx="2331720" cy="713232"/>
          </a:xfrm>
          <a:prstGeom prst="roundRect">
            <a:avLst>
              <a:gd fmla="val 15385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8979408" y="1380744"/>
            <a:ext cx="2020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160"/>
              <a:buFont typeface="Arial"/>
              <a:buNone/>
            </a:pPr>
            <a:r>
              <a:rPr b="1" lang="en-US" sz="11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Bodega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979408" y="1691640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Despacho, pesaje, retorno y conciliación.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126480" y="2267712"/>
            <a:ext cx="2331720" cy="713232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281928" y="2386584"/>
            <a:ext cx="2020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160"/>
              <a:buFont typeface="Arial"/>
              <a:buNone/>
            </a:pPr>
            <a:r>
              <a:rPr b="1" lang="en-US" sz="11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281928" y="2697480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Alertas, trazabilidad y estados.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823960" y="2267712"/>
            <a:ext cx="2331720" cy="713232"/>
          </a:xfrm>
          <a:prstGeom prst="roundRect">
            <a:avLst>
              <a:gd fmla="val 15385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8979408" y="2386584"/>
            <a:ext cx="2020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160"/>
              <a:buFont typeface="Arial"/>
              <a:buNone/>
            </a:pPr>
            <a:r>
              <a:rPr b="1" lang="en-US" sz="11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979408" y="2697480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Usuarios, roles, datos y auditoría.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126480" y="3273552"/>
            <a:ext cx="2331720" cy="713232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281928" y="3392424"/>
            <a:ext cx="2020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160"/>
              <a:buFont typeface="Arial"/>
              <a:buNone/>
            </a:pPr>
            <a:r>
              <a:rPr b="1" lang="en-US" sz="11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Gerencia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281928" y="3703320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Indicadores y decisiones.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126480" y="4416552"/>
            <a:ext cx="5029200" cy="749808"/>
          </a:xfrm>
          <a:prstGeom prst="roundRect">
            <a:avLst>
              <a:gd fmla="val 14634" name="adj"/>
            </a:avLst>
          </a:prstGeom>
          <a:solidFill>
            <a:srgbClr val="EAF3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281928" y="4535424"/>
            <a:ext cx="4718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Usuarios beneficiados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281928" y="4846320"/>
            <a:ext cx="4718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AFRISAN como organización y sus clientes, al contar con una gestión más controlada, auditable y trazable.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Objetivos y alcance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Objetivos claros y coherentes con la disciplina informática.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6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Dante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6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40080" y="1298448"/>
            <a:ext cx="10972800" cy="804672"/>
          </a:xfrm>
          <a:prstGeom prst="roundRect">
            <a:avLst>
              <a:gd fmla="val 13636" name="adj"/>
            </a:avLst>
          </a:prstGeom>
          <a:solidFill>
            <a:srgbClr val="EAF3FF"/>
          </a:solidFill>
          <a:ln cap="flat" cmpd="sng" w="12700">
            <a:solidFill>
              <a:srgbClr val="00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795528" y="1417320"/>
            <a:ext cx="10661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95528" y="1728216"/>
            <a:ext cx="10661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lang="en-US" sz="11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Diseñar e implementar un sistema informático que permita gestionar de forma centralizada el inventario, control y auditoría de gases refrigerantes utilizados por AFRISAN.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41248" y="2423160"/>
            <a:ext cx="566928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-3124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Char char="●"/>
            </a:pPr>
            <a:r>
              <a:rPr lang="en-US" sz="13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Levantar y analizar requerimientos funcionales y no funcionales.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2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Char char="●"/>
            </a:pPr>
            <a:r>
              <a:rPr lang="en-US" sz="13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Diseñar el modelo de datos y la arquitectura de la solución.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2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Char char="●"/>
            </a:pPr>
            <a:r>
              <a:rPr lang="en-US" sz="13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Desarrollar módulos de registro, control de inventario y auditoría.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2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Char char="●"/>
            </a:pPr>
            <a:r>
              <a:rPr lang="en-US" sz="13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Implementar autenticación y control de acceso.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2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Char char="●"/>
            </a:pPr>
            <a:r>
              <a:rPr lang="en-US" sz="13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Generar reportes e indicadores de costos e impacto ambiental.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2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320"/>
              <a:buFont typeface="Arial"/>
              <a:buChar char="●"/>
            </a:pPr>
            <a:r>
              <a:rPr lang="en-US" sz="132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Validar y probar el sistema con usuarios de AFRISAN.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958875" y="2492963"/>
            <a:ext cx="3654000" cy="1071000"/>
          </a:xfrm>
          <a:prstGeom prst="roundRect">
            <a:avLst>
              <a:gd fmla="val 14118" name="adj"/>
            </a:avLst>
          </a:prstGeom>
          <a:solidFill>
            <a:srgbClr val="F6FAFF"/>
          </a:solidFill>
          <a:ln cap="flat" cmpd="sng" w="175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975" lIns="125975" spcFirstLastPara="1" rIns="125975" wrap="square" tIns="125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173088" y="2656773"/>
            <a:ext cx="32259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654"/>
              <a:buFont typeface="Arial"/>
              <a:buNone/>
            </a:pPr>
            <a:r>
              <a:rPr b="1" lang="en-US" sz="1654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Carolina</a:t>
            </a:r>
            <a:endParaRPr sz="165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173088" y="3085199"/>
            <a:ext cx="32259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5"/>
              <a:buFont typeface="Arial"/>
              <a:buNone/>
            </a:pPr>
            <a:r>
              <a:rPr lang="en-US" sz="1226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Requerimientos, planificación y coordinación.</a:t>
            </a:r>
            <a:endParaRPr sz="122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958875" y="3753039"/>
            <a:ext cx="3654000" cy="107100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75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975" lIns="125975" spcFirstLastPara="1" rIns="125975" wrap="square" tIns="125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173088" y="3916849"/>
            <a:ext cx="32259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654"/>
              <a:buFont typeface="Arial"/>
              <a:buNone/>
            </a:pPr>
            <a:r>
              <a:rPr b="1" lang="en-US" sz="1654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Dante</a:t>
            </a:r>
            <a:endParaRPr sz="165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173088" y="4345275"/>
            <a:ext cx="32259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5"/>
              <a:buFont typeface="Arial"/>
              <a:buNone/>
            </a:pPr>
            <a:r>
              <a:rPr lang="en-US" sz="1226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Scrum, metodología y gestión del equipo.</a:t>
            </a:r>
            <a:endParaRPr sz="122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958875" y="5013116"/>
            <a:ext cx="3654000" cy="1071000"/>
          </a:xfrm>
          <a:prstGeom prst="roundRect">
            <a:avLst>
              <a:gd fmla="val 14118" name="adj"/>
            </a:avLst>
          </a:prstGeom>
          <a:solidFill>
            <a:srgbClr val="F6FAFF"/>
          </a:solidFill>
          <a:ln cap="flat" cmpd="sng" w="175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975" lIns="125975" spcFirstLastPara="1" rIns="125975" wrap="square" tIns="125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173088" y="5176926"/>
            <a:ext cx="32259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654"/>
              <a:buFont typeface="Arial"/>
              <a:buNone/>
            </a:pPr>
            <a:r>
              <a:rPr b="1" lang="en-US" sz="1654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Yarek</a:t>
            </a:r>
            <a:endParaRPr sz="165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173088" y="5605352"/>
            <a:ext cx="32259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5"/>
              <a:buFont typeface="Arial"/>
              <a:buNone/>
            </a:pPr>
            <a:r>
              <a:rPr lang="en-US" sz="1226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Arquitectura, datos, APIs y aseguramiento de calidad.</a:t>
            </a:r>
            <a:endParaRPr sz="122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Planificación estructurada en Fase 1 y desarrollo iterativo con Scrum.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7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7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Dante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7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0080" y="1234440"/>
            <a:ext cx="2971800" cy="3291840"/>
          </a:xfrm>
          <a:prstGeom prst="roundRect">
            <a:avLst>
              <a:gd fmla="val 3692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95528" y="1353312"/>
            <a:ext cx="2660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Fase 1: definición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95528" y="1664208"/>
            <a:ext cx="2660904" cy="2779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Levantamiento, análisis, alcance, arquitectura, roles, hitos, cronograma y evidencias.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886200" y="1234440"/>
            <a:ext cx="2971800" cy="3291840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041648" y="1353312"/>
            <a:ext cx="2660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Scrum para desarrollo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041648" y="1664208"/>
            <a:ext cx="2660904" cy="2779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Product Backlog, Sprint Backlog, Sprint Planning, Daily, Review, Retrospective e incremento.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132320" y="1234440"/>
            <a:ext cx="2971800" cy="3291840"/>
          </a:xfrm>
          <a:prstGeom prst="roundRect">
            <a:avLst>
              <a:gd fmla="val 3692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7287768" y="1353312"/>
            <a:ext cx="26609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Cierre y validación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287768" y="1664208"/>
            <a:ext cx="2660904" cy="2779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Marcha blanca, pruebas, UAT, documentación, despliegue y presentación final.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7"/>
          <p:cNvCxnSpPr/>
          <p:nvPr/>
        </p:nvCxnSpPr>
        <p:spPr>
          <a:xfrm>
            <a:off x="3611880" y="2834640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003A8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7"/>
          <p:cNvCxnSpPr/>
          <p:nvPr/>
        </p:nvCxnSpPr>
        <p:spPr>
          <a:xfrm>
            <a:off x="6858000" y="2834640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003A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7"/>
          <p:cNvSpPr/>
          <p:nvPr/>
        </p:nvSpPr>
        <p:spPr>
          <a:xfrm>
            <a:off x="914400" y="4800600"/>
            <a:ext cx="9966960" cy="731520"/>
          </a:xfrm>
          <a:prstGeom prst="roundRect">
            <a:avLst>
              <a:gd fmla="val 15000" name="adj"/>
            </a:avLst>
          </a:prstGeom>
          <a:solidFill>
            <a:srgbClr val="EAF3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069848" y="4919472"/>
            <a:ext cx="96560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380"/>
              <a:buFont typeface="Arial"/>
              <a:buNone/>
            </a:pPr>
            <a:r>
              <a:rPr b="1" lang="en-US" sz="138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Artefactos usados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69848" y="5230368"/>
            <a:ext cx="9656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Acta de Constitución · Product Backlog · Sprint Backlog · RACI · Carta Gantt · Plan de Comunicación · Retrospectivas · GitHub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Factibilidad y riesgos principales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 proyecto es viable si se controla el alcance y se gestionan los riesgos críticos.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8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8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Yarek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8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40080" y="1261872"/>
            <a:ext cx="4983480" cy="777240"/>
          </a:xfrm>
          <a:prstGeom prst="roundRect">
            <a:avLst>
              <a:gd fmla="val 14118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95528" y="1380744"/>
            <a:ext cx="46725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95528" y="1691640"/>
            <a:ext cx="467258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9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.NET MAUI, Blazor, ASP.NET Core, EF Core, PostgreSQL/Supabase, SQLite, Azure y Power BI.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126480" y="1261872"/>
            <a:ext cx="498348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281928" y="1380744"/>
            <a:ext cx="46725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Operativa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281928" y="1691640"/>
            <a:ext cx="467258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9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Uso de móviles con cámara, estaciones existentes, capacitación y soporte al cambio.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40080" y="2286000"/>
            <a:ext cx="4983480" cy="777240"/>
          </a:xfrm>
          <a:prstGeom prst="roundRect">
            <a:avLst>
              <a:gd fmla="val 14118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795528" y="2404872"/>
            <a:ext cx="46725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95528" y="2715768"/>
            <a:ext cx="467258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90">
                <a:solidFill>
                  <a:srgbClr val="111827"/>
                </a:solidFill>
              </a:rPr>
              <a:t>Julio </a:t>
            </a:r>
            <a:r>
              <a:rPr lang="en-US" sz="89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diciembre 2026, 8 a 12 horas semanales por integrante, alcance priorizado.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126480" y="2286000"/>
            <a:ext cx="498348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6281928" y="2404872"/>
            <a:ext cx="46725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281928" y="2715768"/>
            <a:ext cx="467258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9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Equipos personales, conectividad, repositorio GitHub, cloud y herramientas de gestión.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41248" y="3794760"/>
            <a:ext cx="3931920" cy="384048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891540" y="3840480"/>
            <a:ext cx="383133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Riesgo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773168" y="3794760"/>
            <a:ext cx="6309360" cy="384048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823460" y="3840480"/>
            <a:ext cx="620877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Mitigación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41248" y="4178808"/>
            <a:ext cx="3931920" cy="384048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891540" y="4224528"/>
            <a:ext cx="383133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Resistencia al cambio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773168" y="4178808"/>
            <a:ext cx="6309360" cy="384048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823460" y="4224528"/>
            <a:ext cx="620877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Interfaz simple y capacitaciones prácticas.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41248" y="4562856"/>
            <a:ext cx="39319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891540" y="4608576"/>
            <a:ext cx="383133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Falta de cobertura en subterráneos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773168" y="4562856"/>
            <a:ext cx="63093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823460" y="4608576"/>
            <a:ext cx="620877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SQLite y sincronización diferida.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41248" y="4946904"/>
            <a:ext cx="3931920" cy="384048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891540" y="4992624"/>
            <a:ext cx="383133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QR deteriorado o ilegible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773168" y="4946904"/>
            <a:ext cx="6309360" cy="384048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823460" y="4992624"/>
            <a:ext cx="620877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Ingreso manual de código o serie.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41248" y="5330952"/>
            <a:ext cx="39319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891540" y="5376672"/>
            <a:ext cx="383133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Errores de pesaje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773168" y="5330952"/>
            <a:ext cx="63093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823460" y="5376672"/>
            <a:ext cx="620877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Foto obligatoria y auditoría de correcciones.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41248" y="5715000"/>
            <a:ext cx="3931920" cy="384048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891540" y="5760720"/>
            <a:ext cx="383133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Retraso de integración Defontana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773168" y="5715000"/>
            <a:ext cx="6309360" cy="384048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823460" y="5760720"/>
            <a:ext cx="620877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Importación CSV/Excel como alternativa.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Arquitectura y desarrollo de ingeniería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Diseño técnico preparado para Sprint 0: componentes, despliegue y datos.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224" name="Google Shape;2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9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9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Yarek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9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frisan_src/Yarek/Diagrama_Componentes_AFRISAN.png" id="228" name="Google Shape;22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84" y="1234440"/>
            <a:ext cx="2458512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frisan_src/Yarek/Diagrama_Despliegue_AFRISAN.png" id="229" name="Google Shape;22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4524" y="1234440"/>
            <a:ext cx="2409049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frisan_src/Yarek/MER AFRISAN.png" id="230" name="Google Shape;23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8432" y="1488758"/>
            <a:ext cx="3566160" cy="200596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594360" y="4069080"/>
            <a:ext cx="3566160" cy="777240"/>
          </a:xfrm>
          <a:prstGeom prst="roundRect">
            <a:avLst>
              <a:gd fmla="val 14118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749808" y="4187952"/>
            <a:ext cx="32552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49808" y="4498848"/>
            <a:ext cx="32552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 móvil, app web, backend, base central, persistencia offline y BI.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315968" y="4069080"/>
            <a:ext cx="35661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471416" y="4187952"/>
            <a:ext cx="32552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471416" y="4498848"/>
            <a:ext cx="32552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Móviles, navegador, Azure App Service, Supabase/PostgreSQL y Power BI.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028432" y="4069080"/>
            <a:ext cx="3566160" cy="777240"/>
          </a:xfrm>
          <a:prstGeom prst="roundRect">
            <a:avLst>
              <a:gd fmla="val 14118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8183880" y="4187952"/>
            <a:ext cx="32552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8183880" y="4498848"/>
            <a:ext cx="32552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Usuarios, clientes, locales, cilindros, gases, movimientos, intervenciones y auditoría.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463040" y="5349240"/>
            <a:ext cx="9144000" cy="502920"/>
          </a:xfrm>
          <a:prstGeom prst="roundRect">
            <a:avLst>
              <a:gd fmla="val 21818" name="adj"/>
            </a:avLst>
          </a:prstGeom>
          <a:solidFill>
            <a:srgbClr val="EAF3FF"/>
          </a:solidFill>
          <a:ln cap="flat" cmpd="sng" w="12700">
            <a:solidFill>
              <a:srgbClr val="00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618488" y="5468112"/>
            <a:ext cx="88331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Clave técnica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 flipH="1">
            <a:off x="1618392" y="5769864"/>
            <a:ext cx="8833200" cy="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 arquitectura considera seguridad, sincronización offline, trazabilidad completa y reportería para la toma de decisiones.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APIs, seguridad y calidad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Interfaces definidas para soportar trazabilidad, sincronización y auditoría.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253" name="Google Shape;2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10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0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Yarek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10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40080" y="1261872"/>
            <a:ext cx="3977640" cy="402336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90372" y="1307592"/>
            <a:ext cx="3877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Endpoint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617720" y="1261872"/>
            <a:ext cx="4251960" cy="402336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668012" y="1307592"/>
            <a:ext cx="41513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Propósito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40080" y="1664208"/>
            <a:ext cx="3977640" cy="402336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690372" y="1709928"/>
            <a:ext cx="3877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 /api/v1/auth/login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617720" y="1664208"/>
            <a:ext cx="4251960" cy="402336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668012" y="1709928"/>
            <a:ext cx="41513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Autenticación y emisión de token.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40080" y="2066544"/>
            <a:ext cx="39776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90372" y="2112264"/>
            <a:ext cx="3877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GET/POST /api/v1/cilindros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617720" y="2066544"/>
            <a:ext cx="42519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4668012" y="2112264"/>
            <a:ext cx="41513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Consulta y registro de cilindros.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40080" y="2468880"/>
            <a:ext cx="3977640" cy="402336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90372" y="2514600"/>
            <a:ext cx="3877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 /api/v1/movimientos-inventario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617720" y="2468880"/>
            <a:ext cx="4251960" cy="402336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4668012" y="2514600"/>
            <a:ext cx="41513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Ingreso y egreso de cilindros.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40080" y="2871216"/>
            <a:ext cx="39776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690372" y="2916936"/>
            <a:ext cx="3877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 /api/v1/intervenciones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617720" y="2871216"/>
            <a:ext cx="42519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4668012" y="2916936"/>
            <a:ext cx="41513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Registro de intervención en terreno.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40080" y="3273552"/>
            <a:ext cx="3977640" cy="402336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690372" y="3319272"/>
            <a:ext cx="3877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 /api/v1/sync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617720" y="3273552"/>
            <a:ext cx="4251960" cy="402336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668012" y="3319272"/>
            <a:ext cx="41513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Sincronización offline.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" y="3675888"/>
            <a:ext cx="397764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90372" y="3721608"/>
            <a:ext cx="3877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GET /api/v1/auditoria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617720" y="3675888"/>
            <a:ext cx="42519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4668012" y="3721608"/>
            <a:ext cx="41513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Trazabilidad de correcciones.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144000" y="1261872"/>
            <a:ext cx="2423160" cy="960120"/>
          </a:xfrm>
          <a:prstGeom prst="roundRect">
            <a:avLst>
              <a:gd fmla="val 11429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9299448" y="1380744"/>
            <a:ext cx="21122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9299448" y="1691640"/>
            <a:ext cx="2112264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JWT, HTTPS/TLS, control por roles y mínimo privilegio.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9144000" y="2487168"/>
            <a:ext cx="242316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9299448" y="2606040"/>
            <a:ext cx="21122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9299448" y="2916936"/>
            <a:ext cx="2112264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Pruebas unitarias, integración, seguridad y UAT.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9144000" y="3712464"/>
            <a:ext cx="2423160" cy="960120"/>
          </a:xfrm>
          <a:prstGeom prst="roundRect">
            <a:avLst>
              <a:gd fmla="val 11429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9299448" y="3831336"/>
            <a:ext cx="21122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9299448" y="4142232"/>
            <a:ext cx="2112264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Registro de correcciones, evidencia fotográfica y trazabilidad.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188720" y="5486400"/>
            <a:ext cx="9692640" cy="438912"/>
          </a:xfrm>
          <a:prstGeom prst="roundRect">
            <a:avLst>
              <a:gd fmla="val 25000" name="adj"/>
            </a:avLst>
          </a:prstGeom>
          <a:solidFill>
            <a:srgbClr val="EAF3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1344168" y="5605272"/>
            <a:ext cx="9381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Criterio técnico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 flipH="1">
            <a:off x="1344168" y="5842968"/>
            <a:ext cx="9381600" cy="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 definición de APIs conecta los requerimientos funcionales con una implementación ordenada y verificable.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Plan de trabajo e hitos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Hitos verificables para demostrar avance y controlar tiempos del proyecto.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307" name="Google Shape;3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11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1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Dante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11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12648" y="1243584"/>
            <a:ext cx="1097280" cy="438912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662940" y="1289304"/>
            <a:ext cx="9966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Hito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709928" y="1243584"/>
            <a:ext cx="2926080" cy="438912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1760220" y="1289304"/>
            <a:ext cx="28254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636008" y="1243584"/>
            <a:ext cx="4023360" cy="438912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686300" y="1289304"/>
            <a:ext cx="392277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8659368" y="1243584"/>
            <a:ext cx="1828800" cy="438912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8709660" y="1289304"/>
            <a:ext cx="17282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Etapa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12648" y="1682496"/>
            <a:ext cx="109728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662940" y="1728216"/>
            <a:ext cx="9966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709928" y="1682496"/>
            <a:ext cx="292608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1760220" y="1728216"/>
            <a:ext cx="28254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Levantamiento y análisis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636008" y="1682496"/>
            <a:ext cx="402336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4686300" y="1728216"/>
            <a:ext cx="392277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Requerimientos validados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8659368" y="1682496"/>
            <a:ext cx="182880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8709660" y="1728216"/>
            <a:ext cx="17282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12648" y="2121408"/>
            <a:ext cx="10972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662940" y="2167128"/>
            <a:ext cx="9966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709928" y="2121408"/>
            <a:ext cx="29260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1760220" y="2167128"/>
            <a:ext cx="28254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636008" y="2121408"/>
            <a:ext cx="402336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686300" y="2167128"/>
            <a:ext cx="392277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MER/DER definido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8659368" y="2121408"/>
            <a:ext cx="18288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8709660" y="2167128"/>
            <a:ext cx="17282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12648" y="2560320"/>
            <a:ext cx="109728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662940" y="2606040"/>
            <a:ext cx="9966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1709928" y="2560320"/>
            <a:ext cx="292608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1760220" y="2606040"/>
            <a:ext cx="28254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Arquitectura y planificación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636008" y="2560320"/>
            <a:ext cx="402336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4686300" y="2606040"/>
            <a:ext cx="392277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Diagramas, RACI y Gantt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659368" y="2560320"/>
            <a:ext cx="182880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8709660" y="2606040"/>
            <a:ext cx="17282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12648" y="2999232"/>
            <a:ext cx="10972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662940" y="3044952"/>
            <a:ext cx="9966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H4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1709928" y="2999232"/>
            <a:ext cx="29260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1760220" y="3044952"/>
            <a:ext cx="28254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Prototipado UI/UX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636008" y="2999232"/>
            <a:ext cx="402336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4686300" y="3044952"/>
            <a:ext cx="392277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Mockups iniciales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8659368" y="2999232"/>
            <a:ext cx="18288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8709660" y="3044952"/>
            <a:ext cx="17282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Sprint 0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612648" y="3438144"/>
            <a:ext cx="109728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662940" y="3483864"/>
            <a:ext cx="9966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H5-H7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1709928" y="3438144"/>
            <a:ext cx="292608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1760220" y="3483864"/>
            <a:ext cx="28254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Sprints de desarrollo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4636008" y="3438144"/>
            <a:ext cx="402336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4686300" y="3483864"/>
            <a:ext cx="392277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Backend, móvil, offline y reportes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8659368" y="3438144"/>
            <a:ext cx="1828800" cy="43891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8709660" y="3483864"/>
            <a:ext cx="17282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612648" y="3877056"/>
            <a:ext cx="10972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662940" y="3922776"/>
            <a:ext cx="9966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H8-H10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1709928" y="3877056"/>
            <a:ext cx="29260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1760220" y="3922776"/>
            <a:ext cx="282549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QA, marcha blanca y cierre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636008" y="3877056"/>
            <a:ext cx="402336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4686300" y="3922776"/>
            <a:ext cx="392277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Pruebas, despliegue y documentación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8659368" y="3877056"/>
            <a:ext cx="18288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8709660" y="3922776"/>
            <a:ext cx="17282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822960" y="4709160"/>
            <a:ext cx="3291840" cy="822960"/>
          </a:xfrm>
          <a:prstGeom prst="roundRect">
            <a:avLst>
              <a:gd fmla="val 13333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978408" y="4828032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30"/>
              <a:buFont typeface="Arial"/>
              <a:buNone/>
            </a:pPr>
            <a:r>
              <a:rPr b="1" lang="en-US" sz="123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sz="12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978408" y="5138928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Equipo, GitHub, cloud, dispositivos móviles, Office/Canva/Figma y herramientas de desarrollo.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434840" y="4709160"/>
            <a:ext cx="329184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4590288" y="4828032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30"/>
              <a:buFont typeface="Arial"/>
              <a:buNone/>
            </a:pPr>
            <a:r>
              <a:rPr b="1" lang="en-US" sz="123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Facilitadores</a:t>
            </a:r>
            <a:endParaRPr sz="12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4590288" y="5138928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Cliente real, requerimientos levantados, roles definidos y backlog priorizado.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8046720" y="4709160"/>
            <a:ext cx="3291840" cy="822960"/>
          </a:xfrm>
          <a:prstGeom prst="roundRect">
            <a:avLst>
              <a:gd fmla="val 13333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8202168" y="4828032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30"/>
              <a:buFont typeface="Arial"/>
              <a:buNone/>
            </a:pPr>
            <a:r>
              <a:rPr b="1" lang="en-US" sz="123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Obstaculizadores</a:t>
            </a:r>
            <a:endParaRPr sz="12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8202168" y="5138928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Conectividad offline, adopción de usuarios, integración externa y estimación de tiempos.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Evidencias del proyecto y GitHub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evidencias justifican el avance real de la Fase 1.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386" name="Google Shape;3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7" name="Google Shape;387;p12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2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Carolina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12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685800" y="1298448"/>
            <a:ext cx="3246120" cy="914400"/>
          </a:xfrm>
          <a:prstGeom prst="roundRect">
            <a:avLst>
              <a:gd fmla="val 12000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841248" y="141732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841248" y="1728216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Acta, RACI, plan de comunicación</a:t>
            </a:r>
            <a:r>
              <a:rPr lang="en-US" sz="930">
                <a:solidFill>
                  <a:srgbClr val="111827"/>
                </a:solidFill>
              </a:rPr>
              <a:t> </a:t>
            </a:r>
            <a:r>
              <a:rPr lang="en-US" sz="9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 Carta Gantt.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389120" y="1298448"/>
            <a:ext cx="32461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4544568" y="141732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4544568" y="1728216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Entrevista técnica, backlog y lista de tareas.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8092440" y="1298448"/>
            <a:ext cx="3246120" cy="914400"/>
          </a:xfrm>
          <a:prstGeom prst="roundRect">
            <a:avLst>
              <a:gd fmla="val 12000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8247888" y="1417320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8247888" y="1728216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MER/DER, componentes, despliegue, APIs y 4+1.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685800" y="2596896"/>
            <a:ext cx="32461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841248" y="2715768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841248" y="302666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Retrospectivas semanas 1 a 4 y commits en GitHub.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4389120" y="2596896"/>
            <a:ext cx="3246120" cy="914400"/>
          </a:xfrm>
          <a:prstGeom prst="roundRect">
            <a:avLst>
              <a:gd fmla="val 12000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4544568" y="2715768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Individual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4544568" y="302666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1.1, 1.2 y 1.3 por integrante en carpeta oficial.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8092440" y="2596896"/>
            <a:ext cx="32461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8247888" y="2715768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Sprint 0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8247888" y="302666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Backlog priorizado, mockups y diagramas para iniciar desarrollo.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9163" y="3663696"/>
            <a:ext cx="6253382" cy="2657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Mockups Fase 1: baja fidelidad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Estructura, flujo de usuario y arquitectura de información antes del diseño visual final.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419" name="Google Shape;4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p13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13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Yarek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13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758952" y="4370832"/>
            <a:ext cx="32461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914400" y="4489704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170"/>
              <a:buFont typeface="Arial"/>
              <a:buNone/>
            </a:pPr>
            <a:r>
              <a:rPr b="1" lang="en-US" sz="117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Login y dashboard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914400" y="4800600"/>
            <a:ext cx="29352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Acceso, navegación, KPIs y reportería inicial.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4443984" y="4370832"/>
            <a:ext cx="3246120" cy="658368"/>
          </a:xfrm>
          <a:prstGeom prst="roundRect">
            <a:avLst>
              <a:gd fmla="val 16667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4599432" y="4489704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170"/>
              <a:buFont typeface="Arial"/>
              <a:buNone/>
            </a:pPr>
            <a:r>
              <a:rPr b="1" lang="en-US" sz="117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Bodega y terreno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4599432" y="4800600"/>
            <a:ext cx="29352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Escaneo QR, pesaje, registro offline y evidencia.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8129016" y="4370832"/>
            <a:ext cx="32461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8284464" y="4489704"/>
            <a:ext cx="2935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170"/>
              <a:buFont typeface="Arial"/>
              <a:buNone/>
            </a:pPr>
            <a:r>
              <a:rPr b="1" lang="en-US" sz="117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Trazabilidad y usuarios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8284464" y="4800600"/>
            <a:ext cx="29352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Historial, auditoría, roles y permisos.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1280160" y="5358384"/>
            <a:ext cx="9692640" cy="658368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1435608" y="5477256"/>
            <a:ext cx="9381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Propósito de Fase 1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1435608" y="5788152"/>
            <a:ext cx="93817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Validar flujo, organización de información y módulos principales, no presentar diseño final de interfaz.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9413" y="2290964"/>
            <a:ext cx="3246099" cy="1855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9150" y="2350410"/>
            <a:ext cx="3265866" cy="18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0700" y="1385967"/>
            <a:ext cx="1425475" cy="2796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54646" y="1090300"/>
            <a:ext cx="1036054" cy="32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5195" y="1131244"/>
            <a:ext cx="1425475" cy="313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512064" y="3474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Preparación para Sprint 0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530352" y="8046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Backlog inicial priorizado y artefactos listos para comenzar desarrollo.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450" name="Google Shape;4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14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14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Dante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14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658368" y="1234440"/>
            <a:ext cx="777240" cy="347472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708660" y="1280160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1435608" y="1234440"/>
            <a:ext cx="1234440" cy="347472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1485900" y="1280160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2670048" y="1234440"/>
            <a:ext cx="4251960" cy="347472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2720340" y="1280160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6922008" y="1234440"/>
            <a:ext cx="1143000" cy="347472"/>
          </a:xfrm>
          <a:prstGeom prst="rect">
            <a:avLst/>
          </a:prstGeom>
          <a:solidFill>
            <a:srgbClr val="003A8C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6972300" y="1280160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658368" y="1581912"/>
            <a:ext cx="7772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708660" y="1627632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1435608" y="1581912"/>
            <a:ext cx="12344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1485900" y="1627632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Bodeguero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2670048" y="1581912"/>
            <a:ext cx="425196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2720340" y="1627632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Escanear QR y asociar cilindro a OT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6922008" y="1581912"/>
            <a:ext cx="114300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6972300" y="1627632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658368" y="1929384"/>
            <a:ext cx="777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708660" y="1975104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1435608" y="1929384"/>
            <a:ext cx="12344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1485900" y="1975104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Bodeguero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2670048" y="1929384"/>
            <a:ext cx="4251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2720340" y="1975104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Registrar peso bruto inicial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6922008" y="1929384"/>
            <a:ext cx="1143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6972300" y="1975104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658368" y="2276856"/>
            <a:ext cx="7772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708660" y="2322576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1435608" y="2276856"/>
            <a:ext cx="12344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1485900" y="2322576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2670048" y="2276856"/>
            <a:ext cx="425196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2720340" y="2322576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Iniciar sesión segura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6922008" y="2276856"/>
            <a:ext cx="114300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6972300" y="2322576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658368" y="2624328"/>
            <a:ext cx="777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708660" y="2670048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1435608" y="2624328"/>
            <a:ext cx="12344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4"/>
          <p:cNvSpPr/>
          <p:nvPr/>
        </p:nvSpPr>
        <p:spPr>
          <a:xfrm>
            <a:off x="1485900" y="2670048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2670048" y="2624328"/>
            <a:ext cx="4251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2720340" y="2670048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Registrar intervención sin Internet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6922008" y="2624328"/>
            <a:ext cx="1143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6972300" y="2670048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658368" y="2971800"/>
            <a:ext cx="7772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708660" y="3017520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1435608" y="2971800"/>
            <a:ext cx="12344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1485900" y="3017520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2670048" y="2971800"/>
            <a:ext cx="425196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2720340" y="3017520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Escanear cilindro y registrar carga/falla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6922008" y="2971800"/>
            <a:ext cx="114300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6972300" y="3017520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658368" y="3319272"/>
            <a:ext cx="777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708660" y="3364992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1435608" y="3319272"/>
            <a:ext cx="12344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1485900" y="3364992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2670048" y="3319272"/>
            <a:ext cx="4251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2720340" y="3364992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Capturar foto de balanza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6922008" y="3319272"/>
            <a:ext cx="1143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6972300" y="3364992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658368" y="3666744"/>
            <a:ext cx="7772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708660" y="3712464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1435608" y="3666744"/>
            <a:ext cx="12344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1485900" y="3712464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2670048" y="3666744"/>
            <a:ext cx="425196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2720340" y="3712464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Ver semáforo de fuga crítica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6922008" y="3666744"/>
            <a:ext cx="114300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"/>
          <p:cNvSpPr/>
          <p:nvPr/>
        </p:nvSpPr>
        <p:spPr>
          <a:xfrm>
            <a:off x="6972300" y="3712464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658368" y="4014216"/>
            <a:ext cx="777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708660" y="4059936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1435608" y="4014216"/>
            <a:ext cx="12344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1485900" y="4059936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Bodeguero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2670048" y="4014216"/>
            <a:ext cx="4251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2720340" y="4059936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Conciliar retorno y balance de masa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6922008" y="4014216"/>
            <a:ext cx="1143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6972300" y="4059936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658368" y="4361688"/>
            <a:ext cx="7772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708660" y="4407408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HU-09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1435608" y="4361688"/>
            <a:ext cx="123444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"/>
          <p:cNvSpPr/>
          <p:nvPr/>
        </p:nvSpPr>
        <p:spPr>
          <a:xfrm>
            <a:off x="1485900" y="4407408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2670048" y="4361688"/>
            <a:ext cx="425196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2720340" y="4407408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Trazar disposición final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6922008" y="4361688"/>
            <a:ext cx="1143000" cy="347472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6972300" y="4407408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658368" y="4709160"/>
            <a:ext cx="777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4"/>
          <p:cNvSpPr/>
          <p:nvPr/>
        </p:nvSpPr>
        <p:spPr>
          <a:xfrm>
            <a:off x="708660" y="4754880"/>
            <a:ext cx="6766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HU-10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1435608" y="4709160"/>
            <a:ext cx="12344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4"/>
          <p:cNvSpPr/>
          <p:nvPr/>
        </p:nvSpPr>
        <p:spPr>
          <a:xfrm>
            <a:off x="1485900" y="4754880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Gerencia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2670048" y="4709160"/>
            <a:ext cx="4251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"/>
          <p:cNvSpPr/>
          <p:nvPr/>
        </p:nvSpPr>
        <p:spPr>
          <a:xfrm>
            <a:off x="2720340" y="4754880"/>
            <a:ext cx="41513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Consultar dashboard BI y emisiones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6922008" y="4709160"/>
            <a:ext cx="1143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6972300" y="4754880"/>
            <a:ext cx="104241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8732520" y="1234440"/>
            <a:ext cx="2697480" cy="822960"/>
          </a:xfrm>
          <a:prstGeom prst="roundRect">
            <a:avLst>
              <a:gd fmla="val 13333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4"/>
          <p:cNvSpPr/>
          <p:nvPr/>
        </p:nvSpPr>
        <p:spPr>
          <a:xfrm>
            <a:off x="8887968" y="1353312"/>
            <a:ext cx="23865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Diagramas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8887968" y="1664208"/>
            <a:ext cx="2386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Componentes, despliegue y MER/DER definidos.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8732520" y="2331720"/>
            <a:ext cx="269748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8887968" y="2450592"/>
            <a:ext cx="23865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Mockup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8887968" y="2761488"/>
            <a:ext cx="2386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Baja fidelidad para validar flujos principales.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8732520" y="3429000"/>
            <a:ext cx="2697480" cy="822960"/>
          </a:xfrm>
          <a:prstGeom prst="roundRect">
            <a:avLst>
              <a:gd fmla="val 13333" name="adj"/>
            </a:avLst>
          </a:prstGeom>
          <a:solidFill>
            <a:srgbClr val="F6FAFF"/>
          </a:solidFill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4"/>
          <p:cNvSpPr/>
          <p:nvPr/>
        </p:nvSpPr>
        <p:spPr>
          <a:xfrm>
            <a:off x="8887968" y="3547872"/>
            <a:ext cx="23865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Backlog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8887968" y="3858768"/>
            <a:ext cx="2386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 historias priorizadas para guiar sprints.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8732520" y="4526280"/>
            <a:ext cx="269748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00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4"/>
          <p:cNvSpPr/>
          <p:nvPr/>
        </p:nvSpPr>
        <p:spPr>
          <a:xfrm>
            <a:off x="8887968" y="4645152"/>
            <a:ext cx="238658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52B5B"/>
                </a:solidFill>
                <a:latin typeface="Arial"/>
                <a:ea typeface="Arial"/>
                <a:cs typeface="Arial"/>
                <a:sym typeface="Arial"/>
              </a:rPr>
              <a:t>Criterio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8887968" y="4956048"/>
            <a:ext cx="2386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Todo debe quedar respaldado en GitHub.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A8C"/>
          </a:solidFill>
          <a:ln cap="flat" cmpd="sng" w="12700">
            <a:solidFill>
              <a:srgbClr val="003A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/>
          <p:nvPr/>
        </p:nvSpPr>
        <p:spPr>
          <a:xfrm>
            <a:off x="0" y="6684264"/>
            <a:ext cx="12191695" cy="22860"/>
          </a:xfrm>
          <a:prstGeom prst="rect">
            <a:avLst/>
          </a:prstGeom>
          <a:solidFill>
            <a:srgbClr val="E31B23"/>
          </a:solidFill>
          <a:ln cap="flat" cmpd="sng" w="12700">
            <a:solidFill>
              <a:srgbClr val="E31B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1032089" y="3099847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2B5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52B5B"/>
                </a:solidFill>
              </a:rPr>
              <a:t>Cierre de la Fase 1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tipo_afrisan_con_copo_de_nieve_y_brújula.png" id="563" name="Google Shape;5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798" y="237744"/>
            <a:ext cx="1862763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4" name="Google Shape;564;p15"/>
          <p:cNvCxnSpPr/>
          <p:nvPr/>
        </p:nvCxnSpPr>
        <p:spPr>
          <a:xfrm>
            <a:off x="502920" y="10789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E2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5" name="Google Shape;565;p15"/>
          <p:cNvSpPr/>
          <p:nvPr/>
        </p:nvSpPr>
        <p:spPr>
          <a:xfrm>
            <a:off x="7818120" y="647395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Expositor sugerido: Carolina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5"/>
          <p:cNvSpPr/>
          <p:nvPr/>
        </p:nvSpPr>
        <p:spPr>
          <a:xfrm>
            <a:off x="548640" y="647395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9"/>
              <a:buFont typeface="Arial"/>
              <a:buNone/>
            </a:pPr>
            <a:r>
              <a:rPr lang="en-US" sz="84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AFRISAN · Proyecto APT · Fase 1 · 15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2026-09-03T18:35:35Z</dcterms:created>
  <dc:creator>Equipo AFRISAN APT</dc:creator>
</cp:coreProperties>
</file>